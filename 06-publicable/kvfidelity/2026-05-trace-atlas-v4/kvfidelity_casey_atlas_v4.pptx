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KVFidelity Trace Atlas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Casey Reas intervention · CASK AIME24 n=30 · Qwen3-8B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Inter"/>
              </a:defRPr>
            </a:pPr>
            <a:r>
              <a:t>A correct answer is not a score. It is a temporal event.</a:t>
            </a:r>
          </a:p>
          <a:p>
            <a:pPr>
              <a:defRPr sz="2500">
                <a:solidFill>
                  <a:srgbClr val="151515"/>
                </a:solidFill>
                <a:latin typeface="Inter"/>
              </a:defRPr>
            </a:pPr>
            <a:r>
              <a:t>It emerges, persists, drifts, closes, or disappears.</a:t>
            </a:r>
          </a:p>
          <a:p>
            <a:pPr>
              <a:defRPr sz="2000">
                <a:solidFill>
                  <a:srgbClr val="6F6A60"/>
                </a:solidFill>
                <a:latin typeface="Inter"/>
              </a:defRPr>
            </a:pPr>
            <a:r>
              <a:t>CASK is the experiment. KVFidelity is the lens.</a:t>
            </a:r>
          </a:p>
          <a:p>
            <a:pPr>
              <a:defRPr sz="2000">
                <a:solidFill>
                  <a:srgbClr val="6F6A60"/>
                </a:solidFill>
                <a:latin typeface="Inter"/>
              </a:defRPr>
            </a:pPr>
            <a:r>
              <a:t>Main deck first. Defensive evidence moves to appendix.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Topology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The answer becomes a field: distribution, recurrence, absence, drift.</a:t>
            </a:r>
          </a:p>
        </p:txBody>
      </p:sp>
      <p:pic>
        <p:nvPicPr>
          <p:cNvPr id="4" name="Picture 3" descr="01_topolog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62" y="868680"/>
            <a:ext cx="6980971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Answer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Node labels are counts out of 30; orange bands mark loss between lifecycle stages.</a:t>
            </a:r>
          </a:p>
        </p:txBody>
      </p:sp>
      <p:pic>
        <p:nvPicPr>
          <p:cNvPr id="4" name="Picture 3" descr="02_answer_lifecycle_s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556" y="1051560"/>
            <a:ext cx="836458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FullKV 2048 → 4096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More generation transforms states: it repairs some samples and destabilizes others.</a:t>
            </a:r>
          </a:p>
        </p:txBody>
      </p:sp>
      <p:pic>
        <p:nvPicPr>
          <p:cNvPr id="4" name="Picture 3" descr="04_sankey_fullkv_2048_to_4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Case idx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Compression island: several compressed runs close cleanly while FullKV 4096 drifts.</a:t>
            </a:r>
          </a:p>
        </p:txBody>
      </p:sp>
      <p:pic>
        <p:nvPicPr>
          <p:cNvPr id="4" name="Picture 3" descr="case_strip_idx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Case idx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The answer appears, persists, and still fails to close.</a:t>
            </a:r>
          </a:p>
        </p:txBody>
      </p:sp>
      <p:pic>
        <p:nvPicPr>
          <p:cNvPr id="4" name="Picture 3" descr="case_strip_idx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Case idx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More generation repairs FullKV closure; compression does not recover it here.</a:t>
            </a:r>
          </a:p>
        </p:txBody>
      </p:sp>
      <p:pic>
        <p:nvPicPr>
          <p:cNvPr id="4" name="Picture 3" descr="case_strip_idx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How the label is born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Make the measurement process visible: output excerpt → signals → pathology label.</a:t>
            </a:r>
          </a:p>
        </p:txBody>
      </p:sp>
      <p:pic>
        <p:nvPicPr>
          <p:cNvPr id="4" name="Picture 3" descr="08_label_birth_idx09_fullkv_4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14" y="1051560"/>
            <a:ext cx="933026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Inter"/>
              </a:defRPr>
            </a:pPr>
            <a:r>
              <a:t>KVFidelity becomes strong when the correct answer stops being a score.</a:t>
            </a:r>
          </a:p>
          <a:p>
            <a:pPr>
              <a:defRPr sz="2500">
                <a:solidFill>
                  <a:srgbClr val="151515"/>
                </a:solidFill>
                <a:latin typeface="Inter"/>
              </a:defRPr>
            </a:pPr>
            <a:r>
              <a:t>It becomes an event with a temporal shape.</a:t>
            </a:r>
          </a:p>
          <a:p>
            <a:pPr>
              <a:defRPr sz="2000">
                <a:solidFill>
                  <a:srgbClr val="6F6A60"/>
                </a:solidFill>
                <a:latin typeface="Inter"/>
              </a:defRPr>
            </a:pPr>
            <a:r>
              <a:t>The useful object is not a leaderboard. It is a score/partiture of answer trajectories.</a:t>
            </a:r>
          </a:p>
          <a:p>
            <a:pPr>
              <a:defRPr sz="2000">
                <a:solidFill>
                  <a:srgbClr val="6F6A60"/>
                </a:solidFill>
                <a:latin typeface="Inter"/>
              </a:defRPr>
            </a:pPr>
            <a:r>
              <a:t>Public claim remains deferred until manual label audit.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Counts, caveats, alternate transitions, and full case strips.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1515"/>
                </a:solidFill>
                <a:latin typeface="Inter"/>
              </a:defRPr>
            </a:pPr>
            <a:r>
              <a:t>Appendix: evidence and defensive material</a:t>
            </a:r>
          </a:p>
          <a:p>
            <a:pPr>
              <a:defRPr sz="2500">
                <a:solidFill>
                  <a:srgbClr val="151515"/>
                </a:solidFill>
                <a:latin typeface="Inter"/>
              </a:defRPr>
            </a:pPr>
            <a:r>
              <a:t>The main deck shows behavior. The appendix keeps the accounting.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D/R/C bars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Conventional count view retained for auditability.</a:t>
            </a:r>
          </a:p>
        </p:txBody>
      </p:sp>
      <p:pic>
        <p:nvPicPr>
          <p:cNvPr id="4" name="Picture 3" descr="A01_dr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005840"/>
            <a:ext cx="98755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pathology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Raw accuracy collapses these distinct failure modes.</a:t>
            </a:r>
          </a:p>
        </p:txBody>
      </p:sp>
      <p:pic>
        <p:nvPicPr>
          <p:cNvPr id="4" name="Picture 3" descr="A02_patholog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87" y="1005840"/>
            <a:ext cx="98755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TriAttention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Transition structure for the TriAttention baseline.</a:t>
            </a:r>
          </a:p>
        </p:txBody>
      </p:sp>
      <p:pic>
        <p:nvPicPr>
          <p:cNvPr id="4" name="Picture 3" descr="A03_sankey_tri_b256_2048_to_4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CASK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CASK preserves idx 7, but does not recover FullKV gains here.</a:t>
            </a:r>
          </a:p>
        </p:txBody>
      </p:sp>
      <p:pic>
        <p:nvPicPr>
          <p:cNvPr id="4" name="Picture 3" descr="A04_sankey_cask_b256_2048_to_4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candidate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Longer generation opens space for candidate drift.</a:t>
            </a:r>
          </a:p>
        </p:txBody>
      </p:sp>
      <p:pic>
        <p:nvPicPr>
          <p:cNvPr id="4" name="Picture 3" descr="A05_candidate_ch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005840"/>
            <a:ext cx="8778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idx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A FullKV 4096 gain: discovery stabilizes into closure.</a:t>
            </a:r>
          </a:p>
        </p:txBody>
      </p:sp>
      <p:pic>
        <p:nvPicPr>
          <p:cNvPr id="4" name="Picture 3" descr="case_strip_idx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idx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A drift-heavy case: churn without clean commitment.</a:t>
            </a:r>
          </a:p>
        </p:txBody>
      </p:sp>
      <p:pic>
        <p:nvPicPr>
          <p:cNvPr id="4" name="Picture 3" descr="case_strip_idx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idx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A FullKV 4096 closure not recovered by compression.</a:t>
            </a:r>
          </a:p>
        </p:txBody>
      </p:sp>
      <p:pic>
        <p:nvPicPr>
          <p:cNvPr id="4" name="Picture 3" descr="case_strip_idx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1515"/>
                </a:solidFill>
                <a:latin typeface="Inter"/>
              </a:defRPr>
            </a:pPr>
            <a:r>
              <a:t>Appendix · idx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04672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F6A60"/>
                </a:solidFill>
                <a:latin typeface="Inter"/>
              </a:defRPr>
            </a:pPr>
            <a:r>
              <a:t>A FullKV 4096 closure not recovered by compression.</a:t>
            </a:r>
          </a:p>
        </p:txBody>
      </p:sp>
      <p:pic>
        <p:nvPicPr>
          <p:cNvPr id="4" name="Picture 3" descr="case_strip_idx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07" y="1005840"/>
            <a:ext cx="1100328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